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8288000" cy="10287000"/>
  <p:notesSz cx="6858000" cy="9144000"/>
  <p:embeddedFontLst>
    <p:embeddedFont>
      <p:font typeface="Canva Sans Bold" panose="020B0604020202020204" charset="0"/>
      <p:regular r:id="rId29"/>
    </p:embeddedFont>
    <p:embeddedFont>
      <p:font typeface="Poppins" panose="00000500000000000000" pitchFamily="2" charset="0"/>
      <p:regular r:id="rId30"/>
    </p:embeddedFont>
    <p:embeddedFont>
      <p:font typeface="Poppins Bold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93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5408507"/>
            <a:ext cx="5100729" cy="3849793"/>
          </a:xfrm>
          <a:custGeom>
            <a:avLst/>
            <a:gdLst/>
            <a:ahLst/>
            <a:cxnLst/>
            <a:rect l="l" t="t" r="r" b="b"/>
            <a:pathLst>
              <a:path w="5100729" h="3849793">
                <a:moveTo>
                  <a:pt x="0" y="0"/>
                </a:moveTo>
                <a:lnTo>
                  <a:pt x="5100729" y="0"/>
                </a:lnTo>
                <a:lnTo>
                  <a:pt x="5100729" y="3849793"/>
                </a:lnTo>
                <a:lnTo>
                  <a:pt x="0" y="38497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279" t="-5008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1297869" y="6302488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0" y="5415393"/>
            <a:ext cx="18288000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By - Sanjay Singh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918900"/>
            <a:ext cx="18288000" cy="4037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819"/>
              </a:lnSpc>
            </a:pPr>
            <a:r>
              <a:rPr lang="en-US" sz="112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Zepto Inventory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2456477" y="3246764"/>
            <a:ext cx="13898646" cy="526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Zepto is a quick-commerce business that offers a wide range of products across multiple categories, with a focus on product availability, competitive pricing, discounts, and efficient inventory management.</a:t>
            </a:r>
          </a:p>
          <a:p>
            <a:pPr algn="ctr">
              <a:lnSpc>
                <a:spcPts val="3499"/>
              </a:lnSpc>
            </a:pPr>
            <a:endParaRPr lang="en-US" sz="24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The business maintains product-level data covering categories, product names, MRP, discount percentages, discounted selling prices, available quantities, product weights, stock status, and quantities.</a:t>
            </a:r>
          </a:p>
          <a:p>
            <a:pPr algn="ctr">
              <a:lnSpc>
                <a:spcPts val="3499"/>
              </a:lnSpc>
            </a:pPr>
            <a:endParaRPr lang="en-US" sz="24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As the business grows, management needs to understand product value, pricing strategies, discount patterns, revenue potential, inventory levels, stock availability, and category performance to make informed business decisions.</a:t>
            </a:r>
          </a:p>
          <a:p>
            <a:pPr algn="ctr">
              <a:lnSpc>
                <a:spcPts val="3499"/>
              </a:lnSpc>
            </a:pPr>
            <a:endParaRPr lang="en-US" sz="2499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-308000" y="7869237"/>
            <a:ext cx="3626644" cy="2417763"/>
          </a:xfrm>
          <a:custGeom>
            <a:avLst/>
            <a:gdLst/>
            <a:ahLst/>
            <a:cxnLst/>
            <a:rect l="l" t="t" r="r" b="b"/>
            <a:pathLst>
              <a:path w="3626644" h="2417763">
                <a:moveTo>
                  <a:pt x="0" y="0"/>
                </a:moveTo>
                <a:lnTo>
                  <a:pt x="3626644" y="0"/>
                </a:lnTo>
                <a:lnTo>
                  <a:pt x="3626644" y="2417763"/>
                </a:lnTo>
                <a:lnTo>
                  <a:pt x="0" y="2417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3318570" y="1281324"/>
            <a:ext cx="12073830" cy="15350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Company </a:t>
            </a:r>
            <a:r>
              <a:rPr lang="en-US" sz="9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155653" y="6836736"/>
            <a:ext cx="4132347" cy="3307057"/>
          </a:xfrm>
          <a:custGeom>
            <a:avLst/>
            <a:gdLst/>
            <a:ahLst/>
            <a:cxnLst/>
            <a:rect l="l" t="t" r="r" b="b"/>
            <a:pathLst>
              <a:path w="4132347" h="3307057">
                <a:moveTo>
                  <a:pt x="0" y="0"/>
                </a:moveTo>
                <a:lnTo>
                  <a:pt x="4132347" y="0"/>
                </a:lnTo>
                <a:lnTo>
                  <a:pt x="4132347" y="3307057"/>
                </a:lnTo>
                <a:lnTo>
                  <a:pt x="0" y="33070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3423196" y="1281324"/>
            <a:ext cx="11441609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 </a:t>
            </a:r>
            <a:r>
              <a:rPr lang="en-US" sz="9000" b="1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Questions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2733677" y="3045139"/>
            <a:ext cx="12820645" cy="544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01. What are the top 10 best-value products based on discount percentage?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02. What are the products with high MRP but currently out of stock?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03. What is the estimated revenue for each category?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04. Which products have MRP greater than ₹500 and discount below 10%?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05. What are the top 5 categories offering the highest average discount percentage?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06. What is the price per gram for products above 100g, sorted by best value?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07. How can products be grouped into Low, Medium, and Bulk inventory segments?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08. What is the total inventory weight per category?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09. Which product categories have the highest total inventory quantity?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3423196" y="1281324"/>
            <a:ext cx="11441609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 </a:t>
            </a:r>
            <a:r>
              <a:rPr lang="en-US" sz="9000" b="1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2733677" y="3094274"/>
            <a:ext cx="12820645" cy="544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10. What are the top 10 products generating the highest estimated revenue?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11. Which categories have the highest number of out-of-stock products?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12. What percentage of products are currently out of stock?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13. Which products have the highest discount amount?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14. What is the average MRP and discounted selling price for each category?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15. Which categories have the highest potential revenue from available inventory?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16. Which products have high inventory quantity but relatively low discounts?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17. What is the distribution of products across different inventory quantity segments?</a:t>
            </a:r>
          </a:p>
          <a:p>
            <a:pPr algn="just">
              <a:lnSpc>
                <a:spcPts val="3924"/>
              </a:lnSpc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18. Which categories have the highest average price per gram?</a:t>
            </a:r>
          </a:p>
        </p:txBody>
      </p:sp>
      <p:sp>
        <p:nvSpPr>
          <p:cNvPr id="6" name="Freeform 6"/>
          <p:cNvSpPr/>
          <p:nvPr/>
        </p:nvSpPr>
        <p:spPr>
          <a:xfrm>
            <a:off x="14864730" y="7072302"/>
            <a:ext cx="3666438" cy="2934196"/>
          </a:xfrm>
          <a:custGeom>
            <a:avLst/>
            <a:gdLst/>
            <a:ahLst/>
            <a:cxnLst/>
            <a:rect l="l" t="t" r="r" b="b"/>
            <a:pathLst>
              <a:path w="3666438" h="2934196">
                <a:moveTo>
                  <a:pt x="0" y="0"/>
                </a:moveTo>
                <a:lnTo>
                  <a:pt x="3666437" y="0"/>
                </a:lnTo>
                <a:lnTo>
                  <a:pt x="3666437" y="2934196"/>
                </a:lnTo>
                <a:lnTo>
                  <a:pt x="0" y="2934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5554323" y="7193172"/>
            <a:ext cx="2486639" cy="2486639"/>
          </a:xfrm>
          <a:custGeom>
            <a:avLst/>
            <a:gdLst/>
            <a:ahLst/>
            <a:cxnLst/>
            <a:rect l="l" t="t" r="r" b="b"/>
            <a:pathLst>
              <a:path w="2486639" h="2486639">
                <a:moveTo>
                  <a:pt x="0" y="0"/>
                </a:moveTo>
                <a:lnTo>
                  <a:pt x="2486639" y="0"/>
                </a:lnTo>
                <a:lnTo>
                  <a:pt x="2486639" y="2486639"/>
                </a:lnTo>
                <a:lnTo>
                  <a:pt x="0" y="2486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5417716" y="1281324"/>
            <a:ext cx="7452568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SQL </a:t>
            </a:r>
            <a:r>
              <a:rPr lang="en-US" sz="9000" b="1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2733677" y="3291539"/>
            <a:ext cx="12820645" cy="5445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just">
              <a:lnSpc>
                <a:spcPts val="392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Product Performance: Identifying high-value and high-revenue products. </a:t>
            </a:r>
          </a:p>
          <a:p>
            <a:pPr marL="539749" lvl="1" indent="-269875" algn="just">
              <a:lnSpc>
                <a:spcPts val="392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Pricing Analysis: Comparing MRP, selling prices, discounts, and price per gram. </a:t>
            </a:r>
          </a:p>
          <a:p>
            <a:pPr marL="539749" lvl="1" indent="-269875" algn="just">
              <a:lnSpc>
                <a:spcPts val="392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Discount Analysis: Evaluating discount percentages and absolute discount amounts. </a:t>
            </a:r>
          </a:p>
          <a:p>
            <a:pPr marL="539749" lvl="1" indent="-269875" algn="just">
              <a:lnSpc>
                <a:spcPts val="392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Inventory Management: Assessing inventory quantities, weight, and product-level stock distribution. </a:t>
            </a:r>
          </a:p>
          <a:p>
            <a:pPr marL="539749" lvl="1" indent="-269875" algn="just">
              <a:lnSpc>
                <a:spcPts val="392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Stock Availability: Identifying out-of-stock products and categories. </a:t>
            </a:r>
          </a:p>
          <a:p>
            <a:pPr marL="539749" lvl="1" indent="-269875" algn="just">
              <a:lnSpc>
                <a:spcPts val="392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Revenue Potential: Estimating revenue at product and category levels. </a:t>
            </a:r>
          </a:p>
          <a:p>
            <a:pPr marL="539749" lvl="1" indent="-269875" algn="l">
              <a:lnSpc>
                <a:spcPts val="3924"/>
              </a:lnSpc>
              <a:buFont typeface="Arial"/>
              <a:buChar char="•"/>
            </a:pPr>
            <a:r>
              <a:rPr lang="en-US" sz="24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Category Performance: Comparing pricing, discounts, inventory, and revenue across categories. </a:t>
            </a:r>
          </a:p>
        </p:txBody>
      </p:sp>
      <p:sp>
        <p:nvSpPr>
          <p:cNvPr id="7" name="Freeform 7"/>
          <p:cNvSpPr/>
          <p:nvPr/>
        </p:nvSpPr>
        <p:spPr>
          <a:xfrm>
            <a:off x="1799505" y="285655"/>
            <a:ext cx="2486639" cy="2486639"/>
          </a:xfrm>
          <a:custGeom>
            <a:avLst/>
            <a:gdLst/>
            <a:ahLst/>
            <a:cxnLst/>
            <a:rect l="l" t="t" r="r" b="b"/>
            <a:pathLst>
              <a:path w="2486639" h="2486639">
                <a:moveTo>
                  <a:pt x="0" y="0"/>
                </a:moveTo>
                <a:lnTo>
                  <a:pt x="2486639" y="0"/>
                </a:lnTo>
                <a:lnTo>
                  <a:pt x="2486639" y="2486639"/>
                </a:lnTo>
                <a:lnTo>
                  <a:pt x="0" y="2486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4628607" y="3609675"/>
            <a:ext cx="8580601" cy="1532721"/>
          </a:xfrm>
          <a:custGeom>
            <a:avLst/>
            <a:gdLst/>
            <a:ahLst/>
            <a:cxnLst/>
            <a:rect l="l" t="t" r="r" b="b"/>
            <a:pathLst>
              <a:path w="8580601" h="1532721">
                <a:moveTo>
                  <a:pt x="0" y="0"/>
                </a:moveTo>
                <a:lnTo>
                  <a:pt x="8580601" y="0"/>
                </a:lnTo>
                <a:lnTo>
                  <a:pt x="8580601" y="1532721"/>
                </a:lnTo>
                <a:lnTo>
                  <a:pt x="0" y="1532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028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5077259" y="5242440"/>
            <a:ext cx="7683297" cy="4015860"/>
          </a:xfrm>
          <a:custGeom>
            <a:avLst/>
            <a:gdLst/>
            <a:ahLst/>
            <a:cxnLst/>
            <a:rect l="l" t="t" r="r" b="b"/>
            <a:pathLst>
              <a:path w="7683297" h="4015860">
                <a:moveTo>
                  <a:pt x="0" y="0"/>
                </a:moveTo>
                <a:lnTo>
                  <a:pt x="7683297" y="0"/>
                </a:lnTo>
                <a:lnTo>
                  <a:pt x="7683297" y="4015860"/>
                </a:lnTo>
                <a:lnTo>
                  <a:pt x="0" y="40158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900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486400" y="1290849"/>
            <a:ext cx="7687610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854540" y="2789669"/>
            <a:ext cx="1457892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Q1. Find the top 10 best-value products based on the discount percentage.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5521672" y="3609675"/>
            <a:ext cx="7065735" cy="2142995"/>
          </a:xfrm>
          <a:custGeom>
            <a:avLst/>
            <a:gdLst/>
            <a:ahLst/>
            <a:cxnLst/>
            <a:rect l="l" t="t" r="r" b="b"/>
            <a:pathLst>
              <a:path w="7065735" h="2142995">
                <a:moveTo>
                  <a:pt x="0" y="0"/>
                </a:moveTo>
                <a:lnTo>
                  <a:pt x="7065736" y="0"/>
                </a:lnTo>
                <a:lnTo>
                  <a:pt x="7065736" y="2142995"/>
                </a:lnTo>
                <a:lnTo>
                  <a:pt x="0" y="21429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582" b="-1293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4787785" y="5857445"/>
            <a:ext cx="8533511" cy="2818871"/>
          </a:xfrm>
          <a:custGeom>
            <a:avLst/>
            <a:gdLst/>
            <a:ahLst/>
            <a:cxnLst/>
            <a:rect l="l" t="t" r="r" b="b"/>
            <a:pathLst>
              <a:path w="8533511" h="2818871">
                <a:moveTo>
                  <a:pt x="0" y="0"/>
                </a:moveTo>
                <a:lnTo>
                  <a:pt x="8533510" y="0"/>
                </a:lnTo>
                <a:lnTo>
                  <a:pt x="8533510" y="2818871"/>
                </a:lnTo>
                <a:lnTo>
                  <a:pt x="0" y="28188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7200" b="-874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4324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854540" y="2789669"/>
            <a:ext cx="1457892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Q2.What are the Products with High MRP but Out of Stock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718002" y="3609675"/>
            <a:ext cx="10851997" cy="1697893"/>
          </a:xfrm>
          <a:custGeom>
            <a:avLst/>
            <a:gdLst/>
            <a:ahLst/>
            <a:cxnLst/>
            <a:rect l="l" t="t" r="r" b="b"/>
            <a:pathLst>
              <a:path w="10851997" h="1697893">
                <a:moveTo>
                  <a:pt x="0" y="0"/>
                </a:moveTo>
                <a:lnTo>
                  <a:pt x="10851996" y="0"/>
                </a:lnTo>
                <a:lnTo>
                  <a:pt x="10851996" y="1697893"/>
                </a:lnTo>
                <a:lnTo>
                  <a:pt x="0" y="16978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732" b="-1349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6823453" y="5412343"/>
            <a:ext cx="3787749" cy="4175573"/>
          </a:xfrm>
          <a:custGeom>
            <a:avLst/>
            <a:gdLst/>
            <a:ahLst/>
            <a:cxnLst/>
            <a:rect l="l" t="t" r="r" b="b"/>
            <a:pathLst>
              <a:path w="3787749" h="4175573">
                <a:moveTo>
                  <a:pt x="0" y="0"/>
                </a:moveTo>
                <a:lnTo>
                  <a:pt x="3787749" y="0"/>
                </a:lnTo>
                <a:lnTo>
                  <a:pt x="3787749" y="4175573"/>
                </a:lnTo>
                <a:lnTo>
                  <a:pt x="0" y="41755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6610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854540" y="2789669"/>
            <a:ext cx="14578920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Q3.Calculate Estimated Revenue for each category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5456574" y="3605864"/>
            <a:ext cx="7374852" cy="1925335"/>
          </a:xfrm>
          <a:custGeom>
            <a:avLst/>
            <a:gdLst/>
            <a:ahLst/>
            <a:cxnLst/>
            <a:rect l="l" t="t" r="r" b="b"/>
            <a:pathLst>
              <a:path w="7374852" h="1925335">
                <a:moveTo>
                  <a:pt x="0" y="0"/>
                </a:moveTo>
                <a:lnTo>
                  <a:pt x="7374852" y="0"/>
                </a:lnTo>
                <a:lnTo>
                  <a:pt x="7374852" y="1925335"/>
                </a:lnTo>
                <a:lnTo>
                  <a:pt x="0" y="1925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0583" b="-675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5543837" y="5731224"/>
            <a:ext cx="7200326" cy="3854837"/>
          </a:xfrm>
          <a:custGeom>
            <a:avLst/>
            <a:gdLst/>
            <a:ahLst/>
            <a:cxnLst/>
            <a:rect l="l" t="t" r="r" b="b"/>
            <a:pathLst>
              <a:path w="7200326" h="3854837">
                <a:moveTo>
                  <a:pt x="0" y="0"/>
                </a:moveTo>
                <a:lnTo>
                  <a:pt x="7200326" y="0"/>
                </a:lnTo>
                <a:lnTo>
                  <a:pt x="7200326" y="3854837"/>
                </a:lnTo>
                <a:lnTo>
                  <a:pt x="0" y="38548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5086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Q4. Find all products where MRP is greater than ₹500 and discount is less than 10%.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4120144" y="4013535"/>
            <a:ext cx="10047711" cy="1749473"/>
          </a:xfrm>
          <a:custGeom>
            <a:avLst/>
            <a:gdLst/>
            <a:ahLst/>
            <a:cxnLst/>
            <a:rect l="l" t="t" r="r" b="b"/>
            <a:pathLst>
              <a:path w="10047711" h="1749473">
                <a:moveTo>
                  <a:pt x="0" y="0"/>
                </a:moveTo>
                <a:lnTo>
                  <a:pt x="10047712" y="0"/>
                </a:lnTo>
                <a:lnTo>
                  <a:pt x="10047712" y="1749473"/>
                </a:lnTo>
                <a:lnTo>
                  <a:pt x="0" y="17494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6743" b="-704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6000022" y="5963033"/>
            <a:ext cx="6287957" cy="3170289"/>
          </a:xfrm>
          <a:custGeom>
            <a:avLst/>
            <a:gdLst/>
            <a:ahLst/>
            <a:cxnLst/>
            <a:rect l="l" t="t" r="r" b="b"/>
            <a:pathLst>
              <a:path w="6287957" h="3170289">
                <a:moveTo>
                  <a:pt x="0" y="0"/>
                </a:moveTo>
                <a:lnTo>
                  <a:pt x="6287956" y="0"/>
                </a:lnTo>
                <a:lnTo>
                  <a:pt x="6287956" y="3170289"/>
                </a:lnTo>
                <a:lnTo>
                  <a:pt x="0" y="31702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370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5086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Q5. Identify the top 5 categories offering the highest average discount percentage.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626979" y="3813510"/>
            <a:ext cx="10264042" cy="3534582"/>
          </a:xfrm>
          <a:custGeom>
            <a:avLst/>
            <a:gdLst/>
            <a:ahLst/>
            <a:cxnLst/>
            <a:rect l="l" t="t" r="r" b="b"/>
            <a:pathLst>
              <a:path w="10264042" h="3534582">
                <a:moveTo>
                  <a:pt x="0" y="0"/>
                </a:moveTo>
                <a:lnTo>
                  <a:pt x="10264041" y="0"/>
                </a:lnTo>
                <a:lnTo>
                  <a:pt x="10264041" y="3534582"/>
                </a:lnTo>
                <a:lnTo>
                  <a:pt x="0" y="353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50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795370" y="6245201"/>
            <a:ext cx="9130891" cy="3013099"/>
          </a:xfrm>
          <a:custGeom>
            <a:avLst/>
            <a:gdLst/>
            <a:ahLst/>
            <a:cxnLst/>
            <a:rect l="l" t="t" r="r" b="b"/>
            <a:pathLst>
              <a:path w="9130891" h="3013099">
                <a:moveTo>
                  <a:pt x="0" y="0"/>
                </a:moveTo>
                <a:lnTo>
                  <a:pt x="9130890" y="0"/>
                </a:lnTo>
                <a:lnTo>
                  <a:pt x="9130890" y="3013099"/>
                </a:lnTo>
                <a:lnTo>
                  <a:pt x="0" y="30130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065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5086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Q6. Find the price per gram for products above 100g and sort by best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008119" y="3813510"/>
            <a:ext cx="8242476" cy="3335160"/>
          </a:xfrm>
          <a:custGeom>
            <a:avLst/>
            <a:gdLst/>
            <a:ahLst/>
            <a:cxnLst/>
            <a:rect l="l" t="t" r="r" b="b"/>
            <a:pathLst>
              <a:path w="8242476" h="3335160">
                <a:moveTo>
                  <a:pt x="0" y="0"/>
                </a:moveTo>
                <a:lnTo>
                  <a:pt x="8242476" y="0"/>
                </a:lnTo>
                <a:lnTo>
                  <a:pt x="8242476" y="3335160"/>
                </a:lnTo>
                <a:lnTo>
                  <a:pt x="0" y="33351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055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8617649" y="6160453"/>
            <a:ext cx="6662232" cy="3459966"/>
          </a:xfrm>
          <a:custGeom>
            <a:avLst/>
            <a:gdLst/>
            <a:ahLst/>
            <a:cxnLst/>
            <a:rect l="l" t="t" r="r" b="b"/>
            <a:pathLst>
              <a:path w="6662232" h="3459966">
                <a:moveTo>
                  <a:pt x="0" y="0"/>
                </a:moveTo>
                <a:lnTo>
                  <a:pt x="6662232" y="0"/>
                </a:lnTo>
                <a:lnTo>
                  <a:pt x="6662232" y="3459966"/>
                </a:lnTo>
                <a:lnTo>
                  <a:pt x="0" y="3459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4165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6610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Q7.Group the products into categories like Low, Medium, Bulk.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712612" y="3609675"/>
            <a:ext cx="10862775" cy="1617592"/>
          </a:xfrm>
          <a:custGeom>
            <a:avLst/>
            <a:gdLst/>
            <a:ahLst/>
            <a:cxnLst/>
            <a:rect l="l" t="t" r="r" b="b"/>
            <a:pathLst>
              <a:path w="10862775" h="1617592">
                <a:moveTo>
                  <a:pt x="0" y="0"/>
                </a:moveTo>
                <a:lnTo>
                  <a:pt x="10862776" y="0"/>
                </a:lnTo>
                <a:lnTo>
                  <a:pt x="10862776" y="1617591"/>
                </a:lnTo>
                <a:lnTo>
                  <a:pt x="0" y="16175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8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076309" y="5427291"/>
            <a:ext cx="4135381" cy="3814782"/>
          </a:xfrm>
          <a:custGeom>
            <a:avLst/>
            <a:gdLst/>
            <a:ahLst/>
            <a:cxnLst/>
            <a:rect l="l" t="t" r="r" b="b"/>
            <a:pathLst>
              <a:path w="4135381" h="3814782">
                <a:moveTo>
                  <a:pt x="0" y="0"/>
                </a:moveTo>
                <a:lnTo>
                  <a:pt x="4135382" y="0"/>
                </a:lnTo>
                <a:lnTo>
                  <a:pt x="4135382" y="3814782"/>
                </a:lnTo>
                <a:lnTo>
                  <a:pt x="0" y="38147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713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3562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Q8.What is the Total Inventory Weight Per Category?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552933" y="3609675"/>
            <a:ext cx="8094845" cy="2141971"/>
          </a:xfrm>
          <a:custGeom>
            <a:avLst/>
            <a:gdLst/>
            <a:ahLst/>
            <a:cxnLst/>
            <a:rect l="l" t="t" r="r" b="b"/>
            <a:pathLst>
              <a:path w="8094845" h="2141971">
                <a:moveTo>
                  <a:pt x="0" y="0"/>
                </a:moveTo>
                <a:lnTo>
                  <a:pt x="8094845" y="0"/>
                </a:lnTo>
                <a:lnTo>
                  <a:pt x="8094845" y="2141971"/>
                </a:lnTo>
                <a:lnTo>
                  <a:pt x="0" y="21419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647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9842856" y="5016585"/>
            <a:ext cx="4892212" cy="4241715"/>
          </a:xfrm>
          <a:custGeom>
            <a:avLst/>
            <a:gdLst/>
            <a:ahLst/>
            <a:cxnLst/>
            <a:rect l="l" t="t" r="r" b="b"/>
            <a:pathLst>
              <a:path w="4892212" h="4241715">
                <a:moveTo>
                  <a:pt x="0" y="0"/>
                </a:moveTo>
                <a:lnTo>
                  <a:pt x="4892211" y="0"/>
                </a:lnTo>
                <a:lnTo>
                  <a:pt x="4892211" y="4241715"/>
                </a:lnTo>
                <a:lnTo>
                  <a:pt x="0" y="42417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4450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4324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Q9. Which product categories have the highest total inventory quantity?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4127675" y="3609675"/>
            <a:ext cx="10032650" cy="1289595"/>
          </a:xfrm>
          <a:custGeom>
            <a:avLst/>
            <a:gdLst/>
            <a:ahLst/>
            <a:cxnLst/>
            <a:rect l="l" t="t" r="r" b="b"/>
            <a:pathLst>
              <a:path w="10032650" h="1289595">
                <a:moveTo>
                  <a:pt x="0" y="0"/>
                </a:moveTo>
                <a:lnTo>
                  <a:pt x="10032650" y="0"/>
                </a:lnTo>
                <a:lnTo>
                  <a:pt x="10032650" y="1289594"/>
                </a:lnTo>
                <a:lnTo>
                  <a:pt x="0" y="12895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281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4460816" y="5099294"/>
            <a:ext cx="9366369" cy="3942238"/>
          </a:xfrm>
          <a:custGeom>
            <a:avLst/>
            <a:gdLst/>
            <a:ahLst/>
            <a:cxnLst/>
            <a:rect l="l" t="t" r="r" b="b"/>
            <a:pathLst>
              <a:path w="9366369" h="3942238">
                <a:moveTo>
                  <a:pt x="0" y="0"/>
                </a:moveTo>
                <a:lnTo>
                  <a:pt x="9366368" y="0"/>
                </a:lnTo>
                <a:lnTo>
                  <a:pt x="9366368" y="3942238"/>
                </a:lnTo>
                <a:lnTo>
                  <a:pt x="0" y="3942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493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3562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Q10. What are the top 10 products generating the highest estimated revenue?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809091" y="3609675"/>
            <a:ext cx="6819099" cy="2318361"/>
          </a:xfrm>
          <a:custGeom>
            <a:avLst/>
            <a:gdLst/>
            <a:ahLst/>
            <a:cxnLst/>
            <a:rect l="l" t="t" r="r" b="b"/>
            <a:pathLst>
              <a:path w="6819099" h="2318361">
                <a:moveTo>
                  <a:pt x="0" y="0"/>
                </a:moveTo>
                <a:lnTo>
                  <a:pt x="6819099" y="0"/>
                </a:lnTo>
                <a:lnTo>
                  <a:pt x="6819099" y="2318361"/>
                </a:lnTo>
                <a:lnTo>
                  <a:pt x="0" y="231836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565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9563799" y="5236545"/>
            <a:ext cx="4915110" cy="4114800"/>
          </a:xfrm>
          <a:custGeom>
            <a:avLst/>
            <a:gdLst/>
            <a:ahLst/>
            <a:cxnLst/>
            <a:rect l="l" t="t" r="r" b="b"/>
            <a:pathLst>
              <a:path w="4915110" h="4114800">
                <a:moveTo>
                  <a:pt x="0" y="0"/>
                </a:moveTo>
                <a:lnTo>
                  <a:pt x="4915110" y="0"/>
                </a:lnTo>
                <a:lnTo>
                  <a:pt x="49151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40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2800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Q11. Which categories have the highest number of out-of-stock products?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4324853" y="3605864"/>
            <a:ext cx="9638293" cy="2485191"/>
          </a:xfrm>
          <a:custGeom>
            <a:avLst/>
            <a:gdLst/>
            <a:ahLst/>
            <a:cxnLst/>
            <a:rect l="l" t="t" r="r" b="b"/>
            <a:pathLst>
              <a:path w="9638293" h="2485191">
                <a:moveTo>
                  <a:pt x="0" y="0"/>
                </a:moveTo>
                <a:lnTo>
                  <a:pt x="9638294" y="0"/>
                </a:lnTo>
                <a:lnTo>
                  <a:pt x="9638294" y="2485192"/>
                </a:lnTo>
                <a:lnTo>
                  <a:pt x="0" y="24851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8789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4810202" y="6291081"/>
            <a:ext cx="8667596" cy="1617073"/>
          </a:xfrm>
          <a:custGeom>
            <a:avLst/>
            <a:gdLst/>
            <a:ahLst/>
            <a:cxnLst/>
            <a:rect l="l" t="t" r="r" b="b"/>
            <a:pathLst>
              <a:path w="8667596" h="1617073">
                <a:moveTo>
                  <a:pt x="0" y="0"/>
                </a:moveTo>
                <a:lnTo>
                  <a:pt x="8667596" y="0"/>
                </a:lnTo>
                <a:lnTo>
                  <a:pt x="8667596" y="1617073"/>
                </a:lnTo>
                <a:lnTo>
                  <a:pt x="0" y="16170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641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3562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9148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Q12. What percentage of products are currently out of stock?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2492655" y="3609675"/>
            <a:ext cx="7876751" cy="3312597"/>
          </a:xfrm>
          <a:custGeom>
            <a:avLst/>
            <a:gdLst/>
            <a:ahLst/>
            <a:cxnLst/>
            <a:rect l="l" t="t" r="r" b="b"/>
            <a:pathLst>
              <a:path w="7876751" h="3312597">
                <a:moveTo>
                  <a:pt x="0" y="0"/>
                </a:moveTo>
                <a:lnTo>
                  <a:pt x="7876751" y="0"/>
                </a:lnTo>
                <a:lnTo>
                  <a:pt x="7876751" y="3312597"/>
                </a:lnTo>
                <a:lnTo>
                  <a:pt x="0" y="33125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728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7420914" y="5812408"/>
            <a:ext cx="8374430" cy="2927512"/>
          </a:xfrm>
          <a:custGeom>
            <a:avLst/>
            <a:gdLst/>
            <a:ahLst/>
            <a:cxnLst/>
            <a:rect l="l" t="t" r="r" b="b"/>
            <a:pathLst>
              <a:path w="8374430" h="2927512">
                <a:moveTo>
                  <a:pt x="0" y="0"/>
                </a:moveTo>
                <a:lnTo>
                  <a:pt x="8374431" y="0"/>
                </a:lnTo>
                <a:lnTo>
                  <a:pt x="8374431" y="2927512"/>
                </a:lnTo>
                <a:lnTo>
                  <a:pt x="0" y="29275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588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5848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06179"/>
            <a:ext cx="15564521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Q13. Which products have the highest discount amount (MRP − discounted selling price)?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471213" y="3609675"/>
            <a:ext cx="9626761" cy="3305987"/>
          </a:xfrm>
          <a:custGeom>
            <a:avLst/>
            <a:gdLst/>
            <a:ahLst/>
            <a:cxnLst/>
            <a:rect l="l" t="t" r="r" b="b"/>
            <a:pathLst>
              <a:path w="9626761" h="3305987">
                <a:moveTo>
                  <a:pt x="0" y="0"/>
                </a:moveTo>
                <a:lnTo>
                  <a:pt x="9626761" y="0"/>
                </a:lnTo>
                <a:lnTo>
                  <a:pt x="9626761" y="3305987"/>
                </a:lnTo>
                <a:lnTo>
                  <a:pt x="0" y="3305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9881536" y="5470303"/>
            <a:ext cx="4935251" cy="4229706"/>
          </a:xfrm>
          <a:custGeom>
            <a:avLst/>
            <a:gdLst/>
            <a:ahLst/>
            <a:cxnLst/>
            <a:rect l="l" t="t" r="r" b="b"/>
            <a:pathLst>
              <a:path w="4935251" h="4229706">
                <a:moveTo>
                  <a:pt x="0" y="0"/>
                </a:moveTo>
                <a:lnTo>
                  <a:pt x="4935251" y="0"/>
                </a:lnTo>
                <a:lnTo>
                  <a:pt x="4935251" y="4229706"/>
                </a:lnTo>
                <a:lnTo>
                  <a:pt x="0" y="42297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3355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4324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0617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Q14. What is the average MRP and discounted selling price for each category?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4357346" y="3968229"/>
            <a:ext cx="7845756" cy="3048719"/>
          </a:xfrm>
          <a:custGeom>
            <a:avLst/>
            <a:gdLst/>
            <a:ahLst/>
            <a:cxnLst/>
            <a:rect l="l" t="t" r="r" b="b"/>
            <a:pathLst>
              <a:path w="7845756" h="3048719">
                <a:moveTo>
                  <a:pt x="0" y="0"/>
                </a:moveTo>
                <a:lnTo>
                  <a:pt x="7845756" y="0"/>
                </a:lnTo>
                <a:lnTo>
                  <a:pt x="7845756" y="3048719"/>
                </a:lnTo>
                <a:lnTo>
                  <a:pt x="0" y="30487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9401245" y="5730354"/>
            <a:ext cx="4529409" cy="3730684"/>
          </a:xfrm>
          <a:custGeom>
            <a:avLst/>
            <a:gdLst/>
            <a:ahLst/>
            <a:cxnLst/>
            <a:rect l="l" t="t" r="r" b="b"/>
            <a:pathLst>
              <a:path w="4529409" h="3730684">
                <a:moveTo>
                  <a:pt x="0" y="0"/>
                </a:moveTo>
                <a:lnTo>
                  <a:pt x="4529409" y="0"/>
                </a:lnTo>
                <a:lnTo>
                  <a:pt x="4529409" y="3730684"/>
                </a:lnTo>
                <a:lnTo>
                  <a:pt x="0" y="3730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5819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8134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06179"/>
            <a:ext cx="15564521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Q15. Which categories have the highest potential revenue from currently available inventory?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480254" y="3609675"/>
            <a:ext cx="9214315" cy="3193080"/>
          </a:xfrm>
          <a:custGeom>
            <a:avLst/>
            <a:gdLst/>
            <a:ahLst/>
            <a:cxnLst/>
            <a:rect l="l" t="t" r="r" b="b"/>
            <a:pathLst>
              <a:path w="9214315" h="3193080">
                <a:moveTo>
                  <a:pt x="0" y="0"/>
                </a:moveTo>
                <a:lnTo>
                  <a:pt x="9214316" y="0"/>
                </a:lnTo>
                <a:lnTo>
                  <a:pt x="9214316" y="3193079"/>
                </a:lnTo>
                <a:lnTo>
                  <a:pt x="0" y="31930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8087412" y="5412844"/>
            <a:ext cx="6720334" cy="3467544"/>
          </a:xfrm>
          <a:custGeom>
            <a:avLst/>
            <a:gdLst/>
            <a:ahLst/>
            <a:cxnLst/>
            <a:rect l="l" t="t" r="r" b="b"/>
            <a:pathLst>
              <a:path w="6720334" h="3467544">
                <a:moveTo>
                  <a:pt x="0" y="0"/>
                </a:moveTo>
                <a:lnTo>
                  <a:pt x="6720334" y="0"/>
                </a:lnTo>
                <a:lnTo>
                  <a:pt x="6720334" y="3467544"/>
                </a:lnTo>
                <a:lnTo>
                  <a:pt x="0" y="34675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745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4324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0617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Q16. Which products have high inventory quantity but relatively low discounts?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2811477" y="3609675"/>
            <a:ext cx="8968626" cy="5378094"/>
          </a:xfrm>
          <a:custGeom>
            <a:avLst/>
            <a:gdLst/>
            <a:ahLst/>
            <a:cxnLst/>
            <a:rect l="l" t="t" r="r" b="b"/>
            <a:pathLst>
              <a:path w="8968626" h="5378094">
                <a:moveTo>
                  <a:pt x="0" y="0"/>
                </a:moveTo>
                <a:lnTo>
                  <a:pt x="8968626" y="0"/>
                </a:lnTo>
                <a:lnTo>
                  <a:pt x="8968626" y="5378093"/>
                </a:lnTo>
                <a:lnTo>
                  <a:pt x="0" y="53780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9536414" y="5143500"/>
            <a:ext cx="5940109" cy="2797342"/>
          </a:xfrm>
          <a:custGeom>
            <a:avLst/>
            <a:gdLst/>
            <a:ahLst/>
            <a:cxnLst/>
            <a:rect l="l" t="t" r="r" b="b"/>
            <a:pathLst>
              <a:path w="5940109" h="2797342">
                <a:moveTo>
                  <a:pt x="0" y="0"/>
                </a:moveTo>
                <a:lnTo>
                  <a:pt x="5940109" y="0"/>
                </a:lnTo>
                <a:lnTo>
                  <a:pt x="5940109" y="2797342"/>
                </a:lnTo>
                <a:lnTo>
                  <a:pt x="0" y="27973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06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3562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06179"/>
            <a:ext cx="15564521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28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Q17. What is the distribution of products across different inventory quantity segments?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3791213" y="3609675"/>
            <a:ext cx="9429744" cy="3742734"/>
          </a:xfrm>
          <a:custGeom>
            <a:avLst/>
            <a:gdLst/>
            <a:ahLst/>
            <a:cxnLst/>
            <a:rect l="l" t="t" r="r" b="b"/>
            <a:pathLst>
              <a:path w="9429744" h="3742734">
                <a:moveTo>
                  <a:pt x="0" y="0"/>
                </a:moveTo>
                <a:lnTo>
                  <a:pt x="9429744" y="0"/>
                </a:lnTo>
                <a:lnTo>
                  <a:pt x="9429744" y="3742733"/>
                </a:lnTo>
                <a:lnTo>
                  <a:pt x="0" y="37427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11118464" y="5481041"/>
            <a:ext cx="3378324" cy="4051382"/>
          </a:xfrm>
          <a:custGeom>
            <a:avLst/>
            <a:gdLst/>
            <a:ahLst/>
            <a:cxnLst/>
            <a:rect l="l" t="t" r="r" b="b"/>
            <a:pathLst>
              <a:path w="3378324" h="4051382">
                <a:moveTo>
                  <a:pt x="0" y="0"/>
                </a:moveTo>
                <a:lnTo>
                  <a:pt x="3378323" y="0"/>
                </a:lnTo>
                <a:lnTo>
                  <a:pt x="3378323" y="4051383"/>
                </a:lnTo>
                <a:lnTo>
                  <a:pt x="0" y="40513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045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521598" y="1290849"/>
            <a:ext cx="7432402" cy="1364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Data </a:t>
            </a:r>
            <a:r>
              <a:rPr lang="en-US" sz="8000" b="1" dirty="0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1361740" y="2806179"/>
            <a:ext cx="15564521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Q18. Which categories have the highest average price per gram?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404835" y="748155"/>
            <a:ext cx="2657684" cy="2657684"/>
          </a:xfrm>
          <a:custGeom>
            <a:avLst/>
            <a:gdLst/>
            <a:ahLst/>
            <a:cxnLst/>
            <a:rect l="l" t="t" r="r" b="b"/>
            <a:pathLst>
              <a:path w="2657684" h="2657684">
                <a:moveTo>
                  <a:pt x="0" y="0"/>
                </a:moveTo>
                <a:lnTo>
                  <a:pt x="2657684" y="0"/>
                </a:lnTo>
                <a:lnTo>
                  <a:pt x="2657684" y="2657684"/>
                </a:lnTo>
                <a:lnTo>
                  <a:pt x="0" y="26576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5545782" y="1281324"/>
            <a:ext cx="7196435" cy="161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Key </a:t>
            </a:r>
            <a:r>
              <a:rPr lang="en-US" sz="9000" b="1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Insights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33677" y="332963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2381726" y="3310589"/>
            <a:ext cx="13524548" cy="502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61394" lvl="1" indent="-230697" algn="just">
              <a:lnSpc>
                <a:spcPts val="3355"/>
              </a:lnSpc>
              <a:buFont typeface="Arial"/>
              <a:buChar char="•"/>
            </a:pPr>
            <a:r>
              <a:rPr lang="en-US" sz="21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Product Value:</a:t>
            </a:r>
            <a:r>
              <a:rPr lang="en-US" sz="213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Identify products offering the highest discounts and best price-per-gram value. </a:t>
            </a:r>
          </a:p>
          <a:p>
            <a:pPr marL="461394" lvl="1" indent="-230697" algn="just">
              <a:lnSpc>
                <a:spcPts val="3355"/>
              </a:lnSpc>
              <a:buFont typeface="Arial"/>
              <a:buChar char="•"/>
            </a:pPr>
            <a:r>
              <a:rPr lang="en-US" sz="21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Pricing Strategy</a:t>
            </a:r>
            <a:r>
              <a:rPr lang="en-US" sz="213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: Evaluate MRP, selling prices, discount percentages, and discount amounts. </a:t>
            </a:r>
          </a:p>
          <a:p>
            <a:pPr marL="461394" lvl="1" indent="-230697" algn="just">
              <a:lnSpc>
                <a:spcPts val="3355"/>
              </a:lnSpc>
              <a:buFont typeface="Arial"/>
              <a:buChar char="•"/>
            </a:pPr>
            <a:r>
              <a:rPr lang="en-US" sz="21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Revenue Potential:</a:t>
            </a:r>
            <a:r>
              <a:rPr lang="en-US" sz="213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Identify products and categories with the highest estimated revenue potential. </a:t>
            </a:r>
          </a:p>
          <a:p>
            <a:pPr marL="461394" lvl="1" indent="-230697" algn="just">
              <a:lnSpc>
                <a:spcPts val="3355"/>
              </a:lnSpc>
              <a:buFont typeface="Arial"/>
              <a:buChar char="•"/>
            </a:pPr>
            <a:r>
              <a:rPr lang="en-US" sz="21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Inventory Performance:</a:t>
            </a:r>
            <a:r>
              <a:rPr lang="en-US" sz="213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Analyze inventory quantities, weight, and product-level stock distribution. </a:t>
            </a:r>
          </a:p>
          <a:p>
            <a:pPr marL="461394" lvl="1" indent="-230697" algn="just">
              <a:lnSpc>
                <a:spcPts val="3355"/>
              </a:lnSpc>
              <a:buFont typeface="Arial"/>
              <a:buChar char="•"/>
            </a:pPr>
            <a:r>
              <a:rPr lang="en-US" sz="21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Stock Availability:</a:t>
            </a:r>
            <a:r>
              <a:rPr lang="en-US" sz="213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Measure overall stock-out levels and identify categories with higher stock-outs. </a:t>
            </a:r>
          </a:p>
          <a:p>
            <a:pPr marL="461394" lvl="1" indent="-230697" algn="just">
              <a:lnSpc>
                <a:spcPts val="3355"/>
              </a:lnSpc>
              <a:buFont typeface="Arial"/>
              <a:buChar char="•"/>
            </a:pPr>
            <a:r>
              <a:rPr lang="en-US" sz="21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Category Performance:</a:t>
            </a:r>
            <a:r>
              <a:rPr lang="en-US" sz="213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Compare categories based on revenue, inventory, pricing, discounts, and product value. </a:t>
            </a:r>
          </a:p>
          <a:p>
            <a:pPr marL="461394" lvl="1" indent="-230697" algn="just">
              <a:lnSpc>
                <a:spcPts val="3355"/>
              </a:lnSpc>
              <a:buFont typeface="Arial"/>
              <a:buChar char="•"/>
            </a:pPr>
            <a:r>
              <a:rPr lang="en-US" sz="2137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Inventory Efficiency:</a:t>
            </a:r>
            <a:r>
              <a:rPr lang="en-US" sz="2137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Identify high-inventory products with relatively low discounts. </a:t>
            </a:r>
          </a:p>
          <a:p>
            <a:pPr marL="462025" lvl="1" indent="-231013" algn="l">
              <a:lnSpc>
                <a:spcPts val="3359"/>
              </a:lnSpc>
              <a:buFont typeface="Arial"/>
              <a:buChar char="•"/>
            </a:pPr>
            <a:r>
              <a:rPr lang="en-US" sz="213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Inventory Segmentation:</a:t>
            </a:r>
            <a:r>
              <a:rPr lang="en-US" sz="213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Classify products into Low, Medium, and Bulk inventory segments. 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-836339" y="7777929"/>
            <a:ext cx="3970417" cy="2646945"/>
          </a:xfrm>
          <a:custGeom>
            <a:avLst/>
            <a:gdLst/>
            <a:ahLst/>
            <a:cxnLst/>
            <a:rect l="l" t="t" r="r" b="b"/>
            <a:pathLst>
              <a:path w="3970417" h="2646945">
                <a:moveTo>
                  <a:pt x="0" y="0"/>
                </a:moveTo>
                <a:lnTo>
                  <a:pt x="3970417" y="0"/>
                </a:lnTo>
                <a:lnTo>
                  <a:pt x="3970417" y="2646944"/>
                </a:lnTo>
                <a:lnTo>
                  <a:pt x="0" y="26469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4454798" y="1759619"/>
            <a:ext cx="9378404" cy="1362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33677" y="377935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2556614" y="3358481"/>
            <a:ext cx="13174772" cy="4949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Prioritize replenishment for high-MRP products and categories experiencing frequent stock-outs to minimize potential lost sales.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Focus inventory investment on high-revenue products and categories with strong revenue potential.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Optimize discount strategies by evaluating categories and products with exceptionally high discount percentages or discount amounts.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Review high-inventory, low-discount products and consider targeted promotions to improve inventory movement.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Use price-per-gram analysis to evaluate product value and support competitive pricing decisions.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2718792" y="1728819"/>
            <a:ext cx="12850416" cy="1362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>
                <a:solidFill>
                  <a:srgbClr val="FF4989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 </a:t>
            </a:r>
            <a:r>
              <a:rPr lang="en-US" sz="75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(Cont)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733677" y="3748559"/>
            <a:ext cx="12820645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</a:pPr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2556614" y="3389281"/>
            <a:ext cx="13174772" cy="4949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Optimize inventory allocation by monitoring categories with high inventory quantities and physical inventory weight.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Leverage inventory segmentation to develop targeted replenishment and stock-monitoring strategies for Low, Medium, and Bulk products.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Monitor stock-out percentage regularly to maintain healthy product availability and improve customer experience.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Prioritize high-potential categories based on available inventory and estimated revenue to improve resource allocation. </a:t>
            </a:r>
          </a:p>
          <a:p>
            <a:pPr marL="539746" lvl="1" indent="-269873" algn="just">
              <a:lnSpc>
                <a:spcPts val="3924"/>
              </a:lnSpc>
              <a:buFont typeface="Arial"/>
              <a:buChar char="•"/>
            </a:pPr>
            <a:r>
              <a:rPr lang="en-US" sz="2499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Continuously evaluate category-level pricing and discount patterns to balance customer value, sales potential, and inventory efficiency.</a:t>
            </a:r>
          </a:p>
        </p:txBody>
      </p:sp>
      <p:sp>
        <p:nvSpPr>
          <p:cNvPr id="6" name="Freeform 6"/>
          <p:cNvSpPr/>
          <p:nvPr/>
        </p:nvSpPr>
        <p:spPr>
          <a:xfrm>
            <a:off x="-850555" y="7777929"/>
            <a:ext cx="3984632" cy="2656422"/>
          </a:xfrm>
          <a:custGeom>
            <a:avLst/>
            <a:gdLst/>
            <a:ahLst/>
            <a:cxnLst/>
            <a:rect l="l" t="t" r="r" b="b"/>
            <a:pathLst>
              <a:path w="3984632" h="2656422">
                <a:moveTo>
                  <a:pt x="0" y="0"/>
                </a:moveTo>
                <a:lnTo>
                  <a:pt x="3984633" y="0"/>
                </a:lnTo>
                <a:lnTo>
                  <a:pt x="3984633" y="2656421"/>
                </a:lnTo>
                <a:lnTo>
                  <a:pt x="0" y="26564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C1CC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634337"/>
            <a:ext cx="7018326" cy="7018326"/>
          </a:xfrm>
          <a:custGeom>
            <a:avLst/>
            <a:gdLst/>
            <a:ahLst/>
            <a:cxnLst/>
            <a:rect l="l" t="t" r="r" b="b"/>
            <a:pathLst>
              <a:path w="7018326" h="7018326">
                <a:moveTo>
                  <a:pt x="0" y="0"/>
                </a:moveTo>
                <a:lnTo>
                  <a:pt x="7018326" y="0"/>
                </a:lnTo>
                <a:lnTo>
                  <a:pt x="7018326" y="7018326"/>
                </a:lnTo>
                <a:lnTo>
                  <a:pt x="0" y="70183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7875643" y="2893486"/>
            <a:ext cx="8111519" cy="4271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20"/>
              </a:lnSpc>
            </a:pPr>
            <a:r>
              <a:rPr lang="en-US" sz="12300" b="1">
                <a:solidFill>
                  <a:srgbClr val="FF4989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THANK YOU!</a:t>
            </a:r>
          </a:p>
        </p:txBody>
      </p:sp>
      <p:sp>
        <p:nvSpPr>
          <p:cNvPr id="4" name="Freeform 4"/>
          <p:cNvSpPr/>
          <p:nvPr/>
        </p:nvSpPr>
        <p:spPr>
          <a:xfrm>
            <a:off x="12326569" y="0"/>
            <a:ext cx="5961431" cy="1528974"/>
          </a:xfrm>
          <a:custGeom>
            <a:avLst/>
            <a:gdLst/>
            <a:ahLst/>
            <a:cxnLst/>
            <a:rect l="l" t="t" r="r" b="b"/>
            <a:pathLst>
              <a:path w="5961431" h="1528974">
                <a:moveTo>
                  <a:pt x="0" y="0"/>
                </a:moveTo>
                <a:lnTo>
                  <a:pt x="5961431" y="0"/>
                </a:lnTo>
                <a:lnTo>
                  <a:pt x="5961431" y="1528974"/>
                </a:lnTo>
                <a:lnTo>
                  <a:pt x="0" y="1528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29" t="-37583" b="-258667"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1007</Words>
  <Application>Microsoft Office PowerPoint</Application>
  <PresentationFormat>Custom</PresentationFormat>
  <Paragraphs>94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Canva Sans Bold</vt:lpstr>
      <vt:lpstr>Calibri</vt:lpstr>
      <vt:lpstr>Poppins</vt:lpstr>
      <vt:lpstr>Poppins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Zepto Inventory Analysis</dc:title>
  <cp:lastModifiedBy>hp</cp:lastModifiedBy>
  <cp:revision>2</cp:revision>
  <dcterms:created xsi:type="dcterms:W3CDTF">2006-08-16T00:00:00Z</dcterms:created>
  <dcterms:modified xsi:type="dcterms:W3CDTF">2026-08-12T13:42:39Z</dcterms:modified>
  <dc:identifier>DAHSDkXwoMw</dc:identifier>
</cp:coreProperties>
</file>