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Canva Sans Bold" charset="1" panose="020B0803030501040103"/>
      <p:regular r:id="rId33"/>
    </p:embeddedFont>
    <p:embeddedFont>
      <p:font typeface="Poppins Bold" charset="1" panose="00000800000000000000"/>
      <p:regular r:id="rId34"/>
    </p:embeddedFont>
    <p:embeddedFont>
      <p:font typeface="Poppins" charset="1" panose="000005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408507"/>
            <a:ext cx="5100729" cy="3849793"/>
          </a:xfrm>
          <a:custGeom>
            <a:avLst/>
            <a:gdLst/>
            <a:ahLst/>
            <a:cxnLst/>
            <a:rect r="r" b="b" t="t" l="l"/>
            <a:pathLst>
              <a:path h="3849793" w="5100729">
                <a:moveTo>
                  <a:pt x="0" y="0"/>
                </a:moveTo>
                <a:lnTo>
                  <a:pt x="5100729" y="0"/>
                </a:lnTo>
                <a:lnTo>
                  <a:pt x="5100729" y="3849793"/>
                </a:lnTo>
                <a:lnTo>
                  <a:pt x="0" y="3849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279" t="-5008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97869" y="6302488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5415393"/>
            <a:ext cx="18288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- Sanjay Singh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918900"/>
            <a:ext cx="18288000" cy="403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19"/>
              </a:lnSpc>
            </a:pPr>
            <a:r>
              <a:rPr lang="en-US" sz="112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Zepto Inventory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56477" y="3246764"/>
            <a:ext cx="13898646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Zepto is a quick-commerce business that offers a wide range of products across multiple categories, with a focus on product availability, competitive pricing, discounts, and efficient inventory management.</a:t>
            </a:r>
          </a:p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 business maintains product-level data covering categories, product names, MRP, discount percentages, discounted selling prices, available quantities, product weights, stock status, and quantities.</a:t>
            </a:r>
          </a:p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 the business grows, management needs to understand product value, pricing strategies, discount patterns, revenue potential, inventory levels, stock availability, and category performance to make informed business decisions.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08000" y="7869237"/>
            <a:ext cx="3626644" cy="2417763"/>
          </a:xfrm>
          <a:custGeom>
            <a:avLst/>
            <a:gdLst/>
            <a:ahLst/>
            <a:cxnLst/>
            <a:rect r="r" b="b" t="t" l="l"/>
            <a:pathLst>
              <a:path h="2417763" w="3626644">
                <a:moveTo>
                  <a:pt x="0" y="0"/>
                </a:moveTo>
                <a:lnTo>
                  <a:pt x="3626644" y="0"/>
                </a:lnTo>
                <a:lnTo>
                  <a:pt x="3626644" y="2417763"/>
                </a:lnTo>
                <a:lnTo>
                  <a:pt x="0" y="2417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18570" y="1281324"/>
            <a:ext cx="11650861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Company </a:t>
            </a:r>
            <a:r>
              <a:rPr lang="en-US" sz="9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55653" y="6836736"/>
            <a:ext cx="4132347" cy="3307057"/>
          </a:xfrm>
          <a:custGeom>
            <a:avLst/>
            <a:gdLst/>
            <a:ahLst/>
            <a:cxnLst/>
            <a:rect r="r" b="b" t="t" l="l"/>
            <a:pathLst>
              <a:path h="3307057" w="4132347">
                <a:moveTo>
                  <a:pt x="0" y="0"/>
                </a:moveTo>
                <a:lnTo>
                  <a:pt x="4132347" y="0"/>
                </a:lnTo>
                <a:lnTo>
                  <a:pt x="4132347" y="3307057"/>
                </a:lnTo>
                <a:lnTo>
                  <a:pt x="0" y="3307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23196" y="1281324"/>
            <a:ext cx="11441609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</a:t>
            </a:r>
            <a:r>
              <a:rPr lang="en-US" sz="9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045139"/>
            <a:ext cx="12820645" cy="544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01. What are the top 10 best-value products based on discount percentage?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02. What are the products with high MRP but currently out of stock?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03. What is the estimated revenue for each category?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04. Which products have MRP greater than ₹500 and discount below 10%?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05. What are the top 5 categories offering the highest average discount percentage?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06. What is the price per gram for products above 100g, sorted by best value?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07. How can products be grouped into Low, Medium, and Bulk 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inventory segments?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08. What is the total inventory weight per category?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09. Which product categories have the highest total inventory quantity?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23196" y="1281324"/>
            <a:ext cx="11441609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</a:t>
            </a:r>
            <a:r>
              <a:rPr lang="en-US" sz="9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733677" y="3094274"/>
            <a:ext cx="12820645" cy="544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10. What are the top 10 products generating the highest estimated revenue?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11. Which categories have the highest number of out-of-stock products?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12. What percentage of products are currently out of stock?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13. Which products have the highest discount amount?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14. What is the average MRP and discounted selling price for each category?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15. Which categories have the highest potential revenue from available inventory?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16. Which products have high inventory quantity but relat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ively low discounts?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17. What is the distribution of products across different inventory quantity segments?</a:t>
            </a:r>
          </a:p>
          <a:p>
            <a:pPr algn="just">
              <a:lnSpc>
                <a:spcPts val="392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18. Which categories have the highest average price per gram?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864730" y="7072302"/>
            <a:ext cx="3666438" cy="2934196"/>
          </a:xfrm>
          <a:custGeom>
            <a:avLst/>
            <a:gdLst/>
            <a:ahLst/>
            <a:cxnLst/>
            <a:rect r="r" b="b" t="t" l="l"/>
            <a:pathLst>
              <a:path h="2934196" w="3666438">
                <a:moveTo>
                  <a:pt x="0" y="0"/>
                </a:moveTo>
                <a:lnTo>
                  <a:pt x="3666437" y="0"/>
                </a:lnTo>
                <a:lnTo>
                  <a:pt x="3666437" y="2934196"/>
                </a:lnTo>
                <a:lnTo>
                  <a:pt x="0" y="2934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54323" y="7193172"/>
            <a:ext cx="2486639" cy="2486639"/>
          </a:xfrm>
          <a:custGeom>
            <a:avLst/>
            <a:gdLst/>
            <a:ahLst/>
            <a:cxnLst/>
            <a:rect r="r" b="b" t="t" l="l"/>
            <a:pathLst>
              <a:path h="2486639" w="2486639">
                <a:moveTo>
                  <a:pt x="0" y="0"/>
                </a:moveTo>
                <a:lnTo>
                  <a:pt x="2486639" y="0"/>
                </a:lnTo>
                <a:lnTo>
                  <a:pt x="2486639" y="2486639"/>
                </a:lnTo>
                <a:lnTo>
                  <a:pt x="0" y="2486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17716" y="1281324"/>
            <a:ext cx="7452568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SQL </a:t>
            </a:r>
            <a:r>
              <a:rPr lang="en-US" sz="9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291539"/>
            <a:ext cx="12820645" cy="544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Performance: Identifying high-value and high-revenue products. </a:t>
            </a:r>
          </a:p>
          <a:p>
            <a:pPr algn="just" marL="539749" indent="-269875" lvl="1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Pricing Analysis: Comparing MRP, selling prices, discounts, and price per gram. </a:t>
            </a:r>
          </a:p>
          <a:p>
            <a:pPr algn="just" marL="539749" indent="-269875" lvl="1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Discount Analysis: Evaluating discount percentages and absolute discount amounts. </a:t>
            </a:r>
          </a:p>
          <a:p>
            <a:pPr algn="just" marL="539749" indent="-269875" lvl="1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Inventory Management: Assessing inventory quantities, weight, and product-le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vel stock distribution. </a:t>
            </a:r>
          </a:p>
          <a:p>
            <a:pPr algn="just" marL="539749" indent="-269875" lvl="1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Stock Availability: Identifying out-of-stock products and categories. </a:t>
            </a:r>
          </a:p>
          <a:p>
            <a:pPr algn="just" marL="539749" indent="-269875" lvl="1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Revenue Potential: Estimating revenue at product and category levels. </a:t>
            </a:r>
          </a:p>
          <a:p>
            <a:pPr algn="l" marL="539749" indent="-269875" lvl="1">
              <a:lnSpc>
                <a:spcPts val="39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Category Performance: Comparing pricing, discounts, inventory, and revenue across categories.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99505" y="285655"/>
            <a:ext cx="2486639" cy="2486639"/>
          </a:xfrm>
          <a:custGeom>
            <a:avLst/>
            <a:gdLst/>
            <a:ahLst/>
            <a:cxnLst/>
            <a:rect r="r" b="b" t="t" l="l"/>
            <a:pathLst>
              <a:path h="2486639" w="2486639">
                <a:moveTo>
                  <a:pt x="0" y="0"/>
                </a:moveTo>
                <a:lnTo>
                  <a:pt x="2486639" y="0"/>
                </a:lnTo>
                <a:lnTo>
                  <a:pt x="2486639" y="2486639"/>
                </a:lnTo>
                <a:lnTo>
                  <a:pt x="0" y="2486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28607" y="3609675"/>
            <a:ext cx="8580601" cy="1532721"/>
          </a:xfrm>
          <a:custGeom>
            <a:avLst/>
            <a:gdLst/>
            <a:ahLst/>
            <a:cxnLst/>
            <a:rect r="r" b="b" t="t" l="l"/>
            <a:pathLst>
              <a:path h="1532721" w="8580601">
                <a:moveTo>
                  <a:pt x="0" y="0"/>
                </a:moveTo>
                <a:lnTo>
                  <a:pt x="8580601" y="0"/>
                </a:lnTo>
                <a:lnTo>
                  <a:pt x="8580601" y="1532721"/>
                </a:lnTo>
                <a:lnTo>
                  <a:pt x="0" y="1532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28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77259" y="5242440"/>
            <a:ext cx="7683297" cy="4015860"/>
          </a:xfrm>
          <a:custGeom>
            <a:avLst/>
            <a:gdLst/>
            <a:ahLst/>
            <a:cxnLst/>
            <a:rect r="r" b="b" t="t" l="l"/>
            <a:pathLst>
              <a:path h="4015860" w="7683297">
                <a:moveTo>
                  <a:pt x="0" y="0"/>
                </a:moveTo>
                <a:lnTo>
                  <a:pt x="7683297" y="0"/>
                </a:lnTo>
                <a:lnTo>
                  <a:pt x="7683297" y="4015860"/>
                </a:lnTo>
                <a:lnTo>
                  <a:pt x="0" y="4015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002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854540" y="2789669"/>
            <a:ext cx="145789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Q1. Find the top 10 best-value products based on the discount percentage.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21672" y="3609675"/>
            <a:ext cx="7065735" cy="2142995"/>
          </a:xfrm>
          <a:custGeom>
            <a:avLst/>
            <a:gdLst/>
            <a:ahLst/>
            <a:cxnLst/>
            <a:rect r="r" b="b" t="t" l="l"/>
            <a:pathLst>
              <a:path h="2142995" w="7065735">
                <a:moveTo>
                  <a:pt x="0" y="0"/>
                </a:moveTo>
                <a:lnTo>
                  <a:pt x="7065736" y="0"/>
                </a:lnTo>
                <a:lnTo>
                  <a:pt x="7065736" y="2142995"/>
                </a:lnTo>
                <a:lnTo>
                  <a:pt x="0" y="2142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582" b="-1293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87785" y="5857445"/>
            <a:ext cx="8533511" cy="2818871"/>
          </a:xfrm>
          <a:custGeom>
            <a:avLst/>
            <a:gdLst/>
            <a:ahLst/>
            <a:cxnLst/>
            <a:rect r="r" b="b" t="t" l="l"/>
            <a:pathLst>
              <a:path h="2818871" w="8533511">
                <a:moveTo>
                  <a:pt x="0" y="0"/>
                </a:moveTo>
                <a:lnTo>
                  <a:pt x="8533510" y="0"/>
                </a:lnTo>
                <a:lnTo>
                  <a:pt x="8533510" y="2818871"/>
                </a:lnTo>
                <a:lnTo>
                  <a:pt x="0" y="2818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7200" b="-874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854540" y="2789669"/>
            <a:ext cx="145789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Q2.What are the Products with High MRP but Out of Stock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18002" y="3609675"/>
            <a:ext cx="10851997" cy="1697893"/>
          </a:xfrm>
          <a:custGeom>
            <a:avLst/>
            <a:gdLst/>
            <a:ahLst/>
            <a:cxnLst/>
            <a:rect r="r" b="b" t="t" l="l"/>
            <a:pathLst>
              <a:path h="1697893" w="10851997">
                <a:moveTo>
                  <a:pt x="0" y="0"/>
                </a:moveTo>
                <a:lnTo>
                  <a:pt x="10851996" y="0"/>
                </a:lnTo>
                <a:lnTo>
                  <a:pt x="10851996" y="1697893"/>
                </a:lnTo>
                <a:lnTo>
                  <a:pt x="0" y="1697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732" b="-134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23453" y="5412343"/>
            <a:ext cx="3787749" cy="4175573"/>
          </a:xfrm>
          <a:custGeom>
            <a:avLst/>
            <a:gdLst/>
            <a:ahLst/>
            <a:cxnLst/>
            <a:rect r="r" b="b" t="t" l="l"/>
            <a:pathLst>
              <a:path h="4175573" w="3787749">
                <a:moveTo>
                  <a:pt x="0" y="0"/>
                </a:moveTo>
                <a:lnTo>
                  <a:pt x="3787749" y="0"/>
                </a:lnTo>
                <a:lnTo>
                  <a:pt x="3787749" y="4175573"/>
                </a:lnTo>
                <a:lnTo>
                  <a:pt x="0" y="417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854540" y="2789669"/>
            <a:ext cx="145789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Q3.Calculate Estimated Revenue for each category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56574" y="3605864"/>
            <a:ext cx="7374852" cy="1925335"/>
          </a:xfrm>
          <a:custGeom>
            <a:avLst/>
            <a:gdLst/>
            <a:ahLst/>
            <a:cxnLst/>
            <a:rect r="r" b="b" t="t" l="l"/>
            <a:pathLst>
              <a:path h="1925335" w="7374852">
                <a:moveTo>
                  <a:pt x="0" y="0"/>
                </a:moveTo>
                <a:lnTo>
                  <a:pt x="7374852" y="0"/>
                </a:lnTo>
                <a:lnTo>
                  <a:pt x="7374852" y="1925335"/>
                </a:lnTo>
                <a:lnTo>
                  <a:pt x="0" y="1925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583" b="-675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43837" y="5731224"/>
            <a:ext cx="7200326" cy="3854837"/>
          </a:xfrm>
          <a:custGeom>
            <a:avLst/>
            <a:gdLst/>
            <a:ahLst/>
            <a:cxnLst/>
            <a:rect r="r" b="b" t="t" l="l"/>
            <a:pathLst>
              <a:path h="3854837" w="7200326">
                <a:moveTo>
                  <a:pt x="0" y="0"/>
                </a:moveTo>
                <a:lnTo>
                  <a:pt x="7200326" y="0"/>
                </a:lnTo>
                <a:lnTo>
                  <a:pt x="7200326" y="3854837"/>
                </a:lnTo>
                <a:lnTo>
                  <a:pt x="0" y="3854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91489"/>
            <a:ext cx="155645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Q4. Find all products where MRP is greater than ₹500 and discount is less than 10%.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20144" y="4013535"/>
            <a:ext cx="10047711" cy="1749473"/>
          </a:xfrm>
          <a:custGeom>
            <a:avLst/>
            <a:gdLst/>
            <a:ahLst/>
            <a:cxnLst/>
            <a:rect r="r" b="b" t="t" l="l"/>
            <a:pathLst>
              <a:path h="1749473" w="10047711">
                <a:moveTo>
                  <a:pt x="0" y="0"/>
                </a:moveTo>
                <a:lnTo>
                  <a:pt x="10047712" y="0"/>
                </a:lnTo>
                <a:lnTo>
                  <a:pt x="10047712" y="1749473"/>
                </a:lnTo>
                <a:lnTo>
                  <a:pt x="0" y="1749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743" b="-704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00022" y="5963033"/>
            <a:ext cx="6287957" cy="3170289"/>
          </a:xfrm>
          <a:custGeom>
            <a:avLst/>
            <a:gdLst/>
            <a:ahLst/>
            <a:cxnLst/>
            <a:rect r="r" b="b" t="t" l="l"/>
            <a:pathLst>
              <a:path h="3170289" w="6287957">
                <a:moveTo>
                  <a:pt x="0" y="0"/>
                </a:moveTo>
                <a:lnTo>
                  <a:pt x="6287956" y="0"/>
                </a:lnTo>
                <a:lnTo>
                  <a:pt x="6287956" y="3170289"/>
                </a:lnTo>
                <a:lnTo>
                  <a:pt x="0" y="3170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3702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91489"/>
            <a:ext cx="155645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Q5. Identify the top 5 categories offering the highest average discount percentage.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26979" y="3813510"/>
            <a:ext cx="10264042" cy="3534582"/>
          </a:xfrm>
          <a:custGeom>
            <a:avLst/>
            <a:gdLst/>
            <a:ahLst/>
            <a:cxnLst/>
            <a:rect r="r" b="b" t="t" l="l"/>
            <a:pathLst>
              <a:path h="3534582" w="10264042">
                <a:moveTo>
                  <a:pt x="0" y="0"/>
                </a:moveTo>
                <a:lnTo>
                  <a:pt x="10264041" y="0"/>
                </a:lnTo>
                <a:lnTo>
                  <a:pt x="10264041" y="3534582"/>
                </a:lnTo>
                <a:lnTo>
                  <a:pt x="0" y="353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50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95370" y="6245201"/>
            <a:ext cx="9130891" cy="3013099"/>
          </a:xfrm>
          <a:custGeom>
            <a:avLst/>
            <a:gdLst/>
            <a:ahLst/>
            <a:cxnLst/>
            <a:rect r="r" b="b" t="t" l="l"/>
            <a:pathLst>
              <a:path h="3013099" w="9130891">
                <a:moveTo>
                  <a:pt x="0" y="0"/>
                </a:moveTo>
                <a:lnTo>
                  <a:pt x="9130890" y="0"/>
                </a:lnTo>
                <a:lnTo>
                  <a:pt x="9130890" y="3013099"/>
                </a:lnTo>
                <a:lnTo>
                  <a:pt x="0" y="3013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065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91489"/>
            <a:ext cx="155645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Q6. Find the price per gram for products above 100g and sort by best value.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08119" y="3813510"/>
            <a:ext cx="8242476" cy="3335160"/>
          </a:xfrm>
          <a:custGeom>
            <a:avLst/>
            <a:gdLst/>
            <a:ahLst/>
            <a:cxnLst/>
            <a:rect r="r" b="b" t="t" l="l"/>
            <a:pathLst>
              <a:path h="3335160" w="8242476">
                <a:moveTo>
                  <a:pt x="0" y="0"/>
                </a:moveTo>
                <a:lnTo>
                  <a:pt x="8242476" y="0"/>
                </a:lnTo>
                <a:lnTo>
                  <a:pt x="8242476" y="3335160"/>
                </a:lnTo>
                <a:lnTo>
                  <a:pt x="0" y="3335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055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17649" y="6160453"/>
            <a:ext cx="6662232" cy="3459966"/>
          </a:xfrm>
          <a:custGeom>
            <a:avLst/>
            <a:gdLst/>
            <a:ahLst/>
            <a:cxnLst/>
            <a:rect r="r" b="b" t="t" l="l"/>
            <a:pathLst>
              <a:path h="3459966" w="6662232">
                <a:moveTo>
                  <a:pt x="0" y="0"/>
                </a:moveTo>
                <a:lnTo>
                  <a:pt x="6662232" y="0"/>
                </a:lnTo>
                <a:lnTo>
                  <a:pt x="6662232" y="3459966"/>
                </a:lnTo>
                <a:lnTo>
                  <a:pt x="0" y="3459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165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91489"/>
            <a:ext cx="155645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Q7.Group the products into categories like Low, Medium, Bulk.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12612" y="3609675"/>
            <a:ext cx="10862775" cy="1617592"/>
          </a:xfrm>
          <a:custGeom>
            <a:avLst/>
            <a:gdLst/>
            <a:ahLst/>
            <a:cxnLst/>
            <a:rect r="r" b="b" t="t" l="l"/>
            <a:pathLst>
              <a:path h="1617592" w="10862775">
                <a:moveTo>
                  <a:pt x="0" y="0"/>
                </a:moveTo>
                <a:lnTo>
                  <a:pt x="10862776" y="0"/>
                </a:lnTo>
                <a:lnTo>
                  <a:pt x="10862776" y="1617591"/>
                </a:lnTo>
                <a:lnTo>
                  <a:pt x="0" y="1617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87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76309" y="5427291"/>
            <a:ext cx="4135381" cy="3814782"/>
          </a:xfrm>
          <a:custGeom>
            <a:avLst/>
            <a:gdLst/>
            <a:ahLst/>
            <a:cxnLst/>
            <a:rect r="r" b="b" t="t" l="l"/>
            <a:pathLst>
              <a:path h="3814782" w="4135381">
                <a:moveTo>
                  <a:pt x="0" y="0"/>
                </a:moveTo>
                <a:lnTo>
                  <a:pt x="4135382" y="0"/>
                </a:lnTo>
                <a:lnTo>
                  <a:pt x="4135382" y="3814782"/>
                </a:lnTo>
                <a:lnTo>
                  <a:pt x="0" y="3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713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91489"/>
            <a:ext cx="155645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Q8.What is the Total Inventory Weight Per Category?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52933" y="3609675"/>
            <a:ext cx="8094845" cy="2141971"/>
          </a:xfrm>
          <a:custGeom>
            <a:avLst/>
            <a:gdLst/>
            <a:ahLst/>
            <a:cxnLst/>
            <a:rect r="r" b="b" t="t" l="l"/>
            <a:pathLst>
              <a:path h="2141971" w="8094845">
                <a:moveTo>
                  <a:pt x="0" y="0"/>
                </a:moveTo>
                <a:lnTo>
                  <a:pt x="8094845" y="0"/>
                </a:lnTo>
                <a:lnTo>
                  <a:pt x="8094845" y="2141971"/>
                </a:lnTo>
                <a:lnTo>
                  <a:pt x="0" y="2141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647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42856" y="5016585"/>
            <a:ext cx="4892212" cy="4241715"/>
          </a:xfrm>
          <a:custGeom>
            <a:avLst/>
            <a:gdLst/>
            <a:ahLst/>
            <a:cxnLst/>
            <a:rect r="r" b="b" t="t" l="l"/>
            <a:pathLst>
              <a:path h="4241715" w="4892212">
                <a:moveTo>
                  <a:pt x="0" y="0"/>
                </a:moveTo>
                <a:lnTo>
                  <a:pt x="4892211" y="0"/>
                </a:lnTo>
                <a:lnTo>
                  <a:pt x="4892211" y="4241715"/>
                </a:lnTo>
                <a:lnTo>
                  <a:pt x="0" y="42417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450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91489"/>
            <a:ext cx="155645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Q9. Which product categories have the highest total inventory quantity?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27675" y="3609675"/>
            <a:ext cx="10032650" cy="1289595"/>
          </a:xfrm>
          <a:custGeom>
            <a:avLst/>
            <a:gdLst/>
            <a:ahLst/>
            <a:cxnLst/>
            <a:rect r="r" b="b" t="t" l="l"/>
            <a:pathLst>
              <a:path h="1289595" w="10032650">
                <a:moveTo>
                  <a:pt x="0" y="0"/>
                </a:moveTo>
                <a:lnTo>
                  <a:pt x="10032650" y="0"/>
                </a:lnTo>
                <a:lnTo>
                  <a:pt x="10032650" y="1289594"/>
                </a:lnTo>
                <a:lnTo>
                  <a:pt x="0" y="1289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81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60816" y="5099294"/>
            <a:ext cx="9366369" cy="3942238"/>
          </a:xfrm>
          <a:custGeom>
            <a:avLst/>
            <a:gdLst/>
            <a:ahLst/>
            <a:cxnLst/>
            <a:rect r="r" b="b" t="t" l="l"/>
            <a:pathLst>
              <a:path h="3942238" w="9366369">
                <a:moveTo>
                  <a:pt x="0" y="0"/>
                </a:moveTo>
                <a:lnTo>
                  <a:pt x="9366368" y="0"/>
                </a:lnTo>
                <a:lnTo>
                  <a:pt x="9366368" y="3942238"/>
                </a:lnTo>
                <a:lnTo>
                  <a:pt x="0" y="3942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49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91489"/>
            <a:ext cx="155645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Q10. What are the top 10 products generating the highest estimated revenue?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09091" y="3609675"/>
            <a:ext cx="6819099" cy="2318361"/>
          </a:xfrm>
          <a:custGeom>
            <a:avLst/>
            <a:gdLst/>
            <a:ahLst/>
            <a:cxnLst/>
            <a:rect r="r" b="b" t="t" l="l"/>
            <a:pathLst>
              <a:path h="2318361" w="6819099">
                <a:moveTo>
                  <a:pt x="0" y="0"/>
                </a:moveTo>
                <a:lnTo>
                  <a:pt x="6819099" y="0"/>
                </a:lnTo>
                <a:lnTo>
                  <a:pt x="6819099" y="2318361"/>
                </a:lnTo>
                <a:lnTo>
                  <a:pt x="0" y="2318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6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63799" y="5236545"/>
            <a:ext cx="4915110" cy="4114800"/>
          </a:xfrm>
          <a:custGeom>
            <a:avLst/>
            <a:gdLst/>
            <a:ahLst/>
            <a:cxnLst/>
            <a:rect r="r" b="b" t="t" l="l"/>
            <a:pathLst>
              <a:path h="4114800" w="4915110">
                <a:moveTo>
                  <a:pt x="0" y="0"/>
                </a:moveTo>
                <a:lnTo>
                  <a:pt x="4915110" y="0"/>
                </a:lnTo>
                <a:lnTo>
                  <a:pt x="49151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099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91489"/>
            <a:ext cx="155645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Q11. Which categories have the highest number of out-of-stock products?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24853" y="3605864"/>
            <a:ext cx="9638293" cy="2485191"/>
          </a:xfrm>
          <a:custGeom>
            <a:avLst/>
            <a:gdLst/>
            <a:ahLst/>
            <a:cxnLst/>
            <a:rect r="r" b="b" t="t" l="l"/>
            <a:pathLst>
              <a:path h="2485191" w="9638293">
                <a:moveTo>
                  <a:pt x="0" y="0"/>
                </a:moveTo>
                <a:lnTo>
                  <a:pt x="9638294" y="0"/>
                </a:lnTo>
                <a:lnTo>
                  <a:pt x="9638294" y="2485192"/>
                </a:lnTo>
                <a:lnTo>
                  <a:pt x="0" y="24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78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10202" y="6291081"/>
            <a:ext cx="8667596" cy="1617073"/>
          </a:xfrm>
          <a:custGeom>
            <a:avLst/>
            <a:gdLst/>
            <a:ahLst/>
            <a:cxnLst/>
            <a:rect r="r" b="b" t="t" l="l"/>
            <a:pathLst>
              <a:path h="1617073" w="8667596">
                <a:moveTo>
                  <a:pt x="0" y="0"/>
                </a:moveTo>
                <a:lnTo>
                  <a:pt x="8667596" y="0"/>
                </a:lnTo>
                <a:lnTo>
                  <a:pt x="8667596" y="1617073"/>
                </a:lnTo>
                <a:lnTo>
                  <a:pt x="0" y="1617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641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91489"/>
            <a:ext cx="155645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Q12. What percentage of products are currently out of stock?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92655" y="3609675"/>
            <a:ext cx="7876751" cy="3312597"/>
          </a:xfrm>
          <a:custGeom>
            <a:avLst/>
            <a:gdLst/>
            <a:ahLst/>
            <a:cxnLst/>
            <a:rect r="r" b="b" t="t" l="l"/>
            <a:pathLst>
              <a:path h="3312597" w="7876751">
                <a:moveTo>
                  <a:pt x="0" y="0"/>
                </a:moveTo>
                <a:lnTo>
                  <a:pt x="7876751" y="0"/>
                </a:lnTo>
                <a:lnTo>
                  <a:pt x="7876751" y="3312597"/>
                </a:lnTo>
                <a:lnTo>
                  <a:pt x="0" y="3312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72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20914" y="5812408"/>
            <a:ext cx="8374430" cy="2927512"/>
          </a:xfrm>
          <a:custGeom>
            <a:avLst/>
            <a:gdLst/>
            <a:ahLst/>
            <a:cxnLst/>
            <a:rect r="r" b="b" t="t" l="l"/>
            <a:pathLst>
              <a:path h="2927512" w="8374430">
                <a:moveTo>
                  <a:pt x="0" y="0"/>
                </a:moveTo>
                <a:lnTo>
                  <a:pt x="8374431" y="0"/>
                </a:lnTo>
                <a:lnTo>
                  <a:pt x="8374431" y="2927512"/>
                </a:lnTo>
                <a:lnTo>
                  <a:pt x="0" y="2927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88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06179"/>
            <a:ext cx="1556452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Q13. Which products have the highest discount amount (MRP − discounted selling price)?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71213" y="3609675"/>
            <a:ext cx="9626761" cy="3305987"/>
          </a:xfrm>
          <a:custGeom>
            <a:avLst/>
            <a:gdLst/>
            <a:ahLst/>
            <a:cxnLst/>
            <a:rect r="r" b="b" t="t" l="l"/>
            <a:pathLst>
              <a:path h="3305987" w="9626761">
                <a:moveTo>
                  <a:pt x="0" y="0"/>
                </a:moveTo>
                <a:lnTo>
                  <a:pt x="9626761" y="0"/>
                </a:lnTo>
                <a:lnTo>
                  <a:pt x="9626761" y="3305987"/>
                </a:lnTo>
                <a:lnTo>
                  <a:pt x="0" y="3305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81536" y="5470303"/>
            <a:ext cx="4935251" cy="4229706"/>
          </a:xfrm>
          <a:custGeom>
            <a:avLst/>
            <a:gdLst/>
            <a:ahLst/>
            <a:cxnLst/>
            <a:rect r="r" b="b" t="t" l="l"/>
            <a:pathLst>
              <a:path h="4229706" w="4935251">
                <a:moveTo>
                  <a:pt x="0" y="0"/>
                </a:moveTo>
                <a:lnTo>
                  <a:pt x="4935251" y="0"/>
                </a:lnTo>
                <a:lnTo>
                  <a:pt x="4935251" y="4229706"/>
                </a:lnTo>
                <a:lnTo>
                  <a:pt x="0" y="4229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335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06179"/>
            <a:ext cx="155645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Q14. What is the average MRP and discounted selling price for each category?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57346" y="3968229"/>
            <a:ext cx="7845756" cy="3048719"/>
          </a:xfrm>
          <a:custGeom>
            <a:avLst/>
            <a:gdLst/>
            <a:ahLst/>
            <a:cxnLst/>
            <a:rect r="r" b="b" t="t" l="l"/>
            <a:pathLst>
              <a:path h="3048719" w="7845756">
                <a:moveTo>
                  <a:pt x="0" y="0"/>
                </a:moveTo>
                <a:lnTo>
                  <a:pt x="7845756" y="0"/>
                </a:lnTo>
                <a:lnTo>
                  <a:pt x="7845756" y="3048719"/>
                </a:lnTo>
                <a:lnTo>
                  <a:pt x="0" y="3048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01245" y="5730354"/>
            <a:ext cx="4529409" cy="3730684"/>
          </a:xfrm>
          <a:custGeom>
            <a:avLst/>
            <a:gdLst/>
            <a:ahLst/>
            <a:cxnLst/>
            <a:rect r="r" b="b" t="t" l="l"/>
            <a:pathLst>
              <a:path h="3730684" w="4529409">
                <a:moveTo>
                  <a:pt x="0" y="0"/>
                </a:moveTo>
                <a:lnTo>
                  <a:pt x="4529409" y="0"/>
                </a:lnTo>
                <a:lnTo>
                  <a:pt x="4529409" y="3730684"/>
                </a:lnTo>
                <a:lnTo>
                  <a:pt x="0" y="3730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819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06179"/>
            <a:ext cx="1556452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Q15. Which categories have the highest potential revenue from currently available inventory?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80254" y="3609675"/>
            <a:ext cx="9214315" cy="3193080"/>
          </a:xfrm>
          <a:custGeom>
            <a:avLst/>
            <a:gdLst/>
            <a:ahLst/>
            <a:cxnLst/>
            <a:rect r="r" b="b" t="t" l="l"/>
            <a:pathLst>
              <a:path h="3193080" w="9214315">
                <a:moveTo>
                  <a:pt x="0" y="0"/>
                </a:moveTo>
                <a:lnTo>
                  <a:pt x="9214316" y="0"/>
                </a:lnTo>
                <a:lnTo>
                  <a:pt x="9214316" y="3193079"/>
                </a:lnTo>
                <a:lnTo>
                  <a:pt x="0" y="3193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87412" y="5412844"/>
            <a:ext cx="6720334" cy="3467544"/>
          </a:xfrm>
          <a:custGeom>
            <a:avLst/>
            <a:gdLst/>
            <a:ahLst/>
            <a:cxnLst/>
            <a:rect r="r" b="b" t="t" l="l"/>
            <a:pathLst>
              <a:path h="3467544" w="6720334">
                <a:moveTo>
                  <a:pt x="0" y="0"/>
                </a:moveTo>
                <a:lnTo>
                  <a:pt x="6720334" y="0"/>
                </a:lnTo>
                <a:lnTo>
                  <a:pt x="6720334" y="3467544"/>
                </a:lnTo>
                <a:lnTo>
                  <a:pt x="0" y="3467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745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06179"/>
            <a:ext cx="155645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Q16. Which products have high inventory quantity but relatively low discounts?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11477" y="3609675"/>
            <a:ext cx="8968626" cy="5378094"/>
          </a:xfrm>
          <a:custGeom>
            <a:avLst/>
            <a:gdLst/>
            <a:ahLst/>
            <a:cxnLst/>
            <a:rect r="r" b="b" t="t" l="l"/>
            <a:pathLst>
              <a:path h="5378094" w="8968626">
                <a:moveTo>
                  <a:pt x="0" y="0"/>
                </a:moveTo>
                <a:lnTo>
                  <a:pt x="8968626" y="0"/>
                </a:lnTo>
                <a:lnTo>
                  <a:pt x="8968626" y="5378093"/>
                </a:lnTo>
                <a:lnTo>
                  <a:pt x="0" y="5378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36414" y="5143500"/>
            <a:ext cx="5940109" cy="2797342"/>
          </a:xfrm>
          <a:custGeom>
            <a:avLst/>
            <a:gdLst/>
            <a:ahLst/>
            <a:cxnLst/>
            <a:rect r="r" b="b" t="t" l="l"/>
            <a:pathLst>
              <a:path h="2797342" w="5940109">
                <a:moveTo>
                  <a:pt x="0" y="0"/>
                </a:moveTo>
                <a:lnTo>
                  <a:pt x="5940109" y="0"/>
                </a:lnTo>
                <a:lnTo>
                  <a:pt x="5940109" y="2797342"/>
                </a:lnTo>
                <a:lnTo>
                  <a:pt x="0" y="2797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706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06179"/>
            <a:ext cx="1556452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Q17. What is the distribution of products across different inventory quantity segments?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91213" y="3609675"/>
            <a:ext cx="9429744" cy="3742734"/>
          </a:xfrm>
          <a:custGeom>
            <a:avLst/>
            <a:gdLst/>
            <a:ahLst/>
            <a:cxnLst/>
            <a:rect r="r" b="b" t="t" l="l"/>
            <a:pathLst>
              <a:path h="3742734" w="9429744">
                <a:moveTo>
                  <a:pt x="0" y="0"/>
                </a:moveTo>
                <a:lnTo>
                  <a:pt x="9429744" y="0"/>
                </a:lnTo>
                <a:lnTo>
                  <a:pt x="9429744" y="3742733"/>
                </a:lnTo>
                <a:lnTo>
                  <a:pt x="0" y="3742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18464" y="5481041"/>
            <a:ext cx="3378324" cy="4051382"/>
          </a:xfrm>
          <a:custGeom>
            <a:avLst/>
            <a:gdLst/>
            <a:ahLst/>
            <a:cxnLst/>
            <a:rect r="r" b="b" t="t" l="l"/>
            <a:pathLst>
              <a:path h="4051382" w="3378324">
                <a:moveTo>
                  <a:pt x="0" y="0"/>
                </a:moveTo>
                <a:lnTo>
                  <a:pt x="3378323" y="0"/>
                </a:lnTo>
                <a:lnTo>
                  <a:pt x="3378323" y="4051383"/>
                </a:lnTo>
                <a:lnTo>
                  <a:pt x="0" y="4051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045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1598" y="1290849"/>
            <a:ext cx="7244804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8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61740" y="2806179"/>
            <a:ext cx="155645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Q18. Which categories have the highest average price per gram?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4835" y="748155"/>
            <a:ext cx="2657684" cy="2657684"/>
          </a:xfrm>
          <a:custGeom>
            <a:avLst/>
            <a:gdLst/>
            <a:ahLst/>
            <a:cxnLst/>
            <a:rect r="r" b="b" t="t" l="l"/>
            <a:pathLst>
              <a:path h="2657684" w="2657684">
                <a:moveTo>
                  <a:pt x="0" y="0"/>
                </a:moveTo>
                <a:lnTo>
                  <a:pt x="2657684" y="0"/>
                </a:lnTo>
                <a:lnTo>
                  <a:pt x="2657684" y="2657684"/>
                </a:lnTo>
                <a:lnTo>
                  <a:pt x="0" y="2657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45782" y="1281324"/>
            <a:ext cx="7196435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</a:t>
            </a:r>
            <a:r>
              <a:rPr lang="en-US" sz="90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33677" y="332963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381726" y="3310589"/>
            <a:ext cx="13524548" cy="502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1394" indent="-230697" lvl="1">
              <a:lnSpc>
                <a:spcPts val="3355"/>
              </a:lnSpc>
              <a:buFont typeface="Arial"/>
              <a:buChar char="•"/>
            </a:pPr>
            <a:r>
              <a:rPr lang="en-US" b="true" sz="21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Value:</a:t>
            </a:r>
            <a:r>
              <a:rPr lang="en-US" sz="21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Identify products offering the highest discounts and best price-per-gram value. </a:t>
            </a:r>
          </a:p>
          <a:p>
            <a:pPr algn="just" marL="461394" indent="-230697" lvl="1">
              <a:lnSpc>
                <a:spcPts val="3355"/>
              </a:lnSpc>
              <a:buFont typeface="Arial"/>
              <a:buChar char="•"/>
            </a:pPr>
            <a:r>
              <a:rPr lang="en-US" b="true" sz="21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Pricing Strategy</a:t>
            </a:r>
            <a:r>
              <a:rPr lang="en-US" sz="21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Evaluate MRP, selling prices, discount percentages, and discount amounts. </a:t>
            </a:r>
          </a:p>
          <a:p>
            <a:pPr algn="just" marL="461394" indent="-230697" lvl="1">
              <a:lnSpc>
                <a:spcPts val="3355"/>
              </a:lnSpc>
              <a:buFont typeface="Arial"/>
              <a:buChar char="•"/>
            </a:pPr>
            <a:r>
              <a:rPr lang="en-US" b="true" sz="21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Potential:</a:t>
            </a:r>
            <a:r>
              <a:rPr lang="en-US" sz="21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Identify products and categories with the highest estimated revenue potential. </a:t>
            </a:r>
          </a:p>
          <a:p>
            <a:pPr algn="just" marL="461394" indent="-230697" lvl="1">
              <a:lnSpc>
                <a:spcPts val="3355"/>
              </a:lnSpc>
              <a:buFont typeface="Arial"/>
              <a:buChar char="•"/>
            </a:pPr>
            <a:r>
              <a:rPr lang="en-US" b="true" sz="21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Inventory Performance:</a:t>
            </a:r>
            <a:r>
              <a:rPr lang="en-US" sz="21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Analyze inventory quantities, weight, and product-le</a:t>
            </a:r>
            <a:r>
              <a:rPr lang="en-US" sz="21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vel stock distribution. </a:t>
            </a:r>
          </a:p>
          <a:p>
            <a:pPr algn="just" marL="461394" indent="-230697" lvl="1">
              <a:lnSpc>
                <a:spcPts val="3355"/>
              </a:lnSpc>
              <a:buFont typeface="Arial"/>
              <a:buChar char="•"/>
            </a:pPr>
            <a:r>
              <a:rPr lang="en-US" b="true" sz="21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Stock Availability:</a:t>
            </a:r>
            <a:r>
              <a:rPr lang="en-US" sz="21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Measure overall stock-out levels and identify categories with higher stock-outs. </a:t>
            </a:r>
          </a:p>
          <a:p>
            <a:pPr algn="just" marL="461394" indent="-230697" lvl="1">
              <a:lnSpc>
                <a:spcPts val="3355"/>
              </a:lnSpc>
              <a:buFont typeface="Arial"/>
              <a:buChar char="•"/>
            </a:pPr>
            <a:r>
              <a:rPr lang="en-US" b="true" sz="21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Category Performance:</a:t>
            </a:r>
            <a:r>
              <a:rPr lang="en-US" sz="21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Compare categories based on revenue, inventory, pricing, discounts, and product value. </a:t>
            </a:r>
          </a:p>
          <a:p>
            <a:pPr algn="just" marL="461394" indent="-230697" lvl="1">
              <a:lnSpc>
                <a:spcPts val="3355"/>
              </a:lnSpc>
              <a:buFont typeface="Arial"/>
              <a:buChar char="•"/>
            </a:pPr>
            <a:r>
              <a:rPr lang="en-US" b="true" sz="21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Inventory Efficiency:</a:t>
            </a:r>
            <a:r>
              <a:rPr lang="en-US" sz="21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Identify high-inventory products with relatively low discounts. </a:t>
            </a:r>
          </a:p>
          <a:p>
            <a:pPr algn="l" marL="462025" indent="-231013" lvl="1">
              <a:lnSpc>
                <a:spcPts val="3359"/>
              </a:lnSpc>
              <a:buFont typeface="Arial"/>
              <a:buChar char="•"/>
            </a:pPr>
            <a:r>
              <a:rPr lang="en-US" b="true" sz="21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Inventory Segmentation:</a:t>
            </a:r>
            <a:r>
              <a:rPr lang="en-US" sz="21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Classify products into Low, Medium, and Bulk inventory segments.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36339" y="7777929"/>
            <a:ext cx="3970417" cy="2646945"/>
          </a:xfrm>
          <a:custGeom>
            <a:avLst/>
            <a:gdLst/>
            <a:ahLst/>
            <a:cxnLst/>
            <a:rect r="r" b="b" t="t" l="l"/>
            <a:pathLst>
              <a:path h="2646945" w="3970417">
                <a:moveTo>
                  <a:pt x="0" y="0"/>
                </a:moveTo>
                <a:lnTo>
                  <a:pt x="3970417" y="0"/>
                </a:lnTo>
                <a:lnTo>
                  <a:pt x="3970417" y="2646944"/>
                </a:lnTo>
                <a:lnTo>
                  <a:pt x="0" y="2646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54798" y="1759619"/>
            <a:ext cx="9378404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33677" y="377935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556614" y="3358481"/>
            <a:ext cx="13174772" cy="494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924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Prioritize replenishment for high-MRP products and categories experiencing frequent stock-outs to minimize potential lost sales. </a:t>
            </a:r>
          </a:p>
          <a:p>
            <a:pPr algn="just" marL="539746" indent="-269873" lvl="1">
              <a:lnSpc>
                <a:spcPts val="3924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Focus inventory investment on high-revenue products and categories with strong revenue potential. </a:t>
            </a:r>
          </a:p>
          <a:p>
            <a:pPr algn="just" marL="539746" indent="-269873" lvl="1">
              <a:lnSpc>
                <a:spcPts val="3924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Optimize d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iscount strategies by evaluating categories and products with exceptionally high discount percentages or discount amounts. </a:t>
            </a:r>
          </a:p>
          <a:p>
            <a:pPr algn="just" marL="539746" indent="-269873" lvl="1">
              <a:lnSpc>
                <a:spcPts val="3924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Review high-inventory, low-discount products and consider targeted promotions to improve inventory movement. </a:t>
            </a:r>
          </a:p>
          <a:p>
            <a:pPr algn="just" marL="539746" indent="-269873" lvl="1">
              <a:lnSpc>
                <a:spcPts val="3924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 price-per-gram analysis to evaluate product value and support competitive pricing decisions.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9" t="-37583" r="0" b="-25866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8792" y="1728819"/>
            <a:ext cx="12850416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4989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 </a:t>
            </a:r>
            <a:r>
              <a:rPr lang="en-US" sz="7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(Cont)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33677" y="3748559"/>
            <a:ext cx="128206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556614" y="3389281"/>
            <a:ext cx="13174772" cy="494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924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Optimize inventory allocation by monitoring categories with high inventory quantities and physical inventory weight. </a:t>
            </a:r>
          </a:p>
          <a:p>
            <a:pPr algn="just" marL="539746" indent="-269873" lvl="1">
              <a:lnSpc>
                <a:spcPts val="3924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Leverage inventory segmentation to develop targeted re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plenishment and 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stock-monitoring strategies for Low, Medium, and Bulk products. </a:t>
            </a:r>
          </a:p>
          <a:p>
            <a:pPr algn="just" marL="539746" indent="-269873" lvl="1">
              <a:lnSpc>
                <a:spcPts val="3924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Monitor stock-out percentage regularly to maintain healthy product availability and improve customer experience. </a:t>
            </a:r>
          </a:p>
          <a:p>
            <a:pPr algn="just" marL="539746" indent="-269873" lvl="1">
              <a:lnSpc>
                <a:spcPts val="3924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Prioritize high-potential categories based on available inventory and estimated revenue to improve resource allocation. </a:t>
            </a:r>
          </a:p>
          <a:p>
            <a:pPr algn="just" marL="539746" indent="-269873" lvl="1">
              <a:lnSpc>
                <a:spcPts val="3924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Continuou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sly evaluate category-level pricing and discount patterns to balance customer value, sales potential, and inventory efficiency.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850555" y="7777929"/>
            <a:ext cx="3984632" cy="2656422"/>
          </a:xfrm>
          <a:custGeom>
            <a:avLst/>
            <a:gdLst/>
            <a:ahLst/>
            <a:cxnLst/>
            <a:rect r="r" b="b" t="t" l="l"/>
            <a:pathLst>
              <a:path h="2656422" w="3984632">
                <a:moveTo>
                  <a:pt x="0" y="0"/>
                </a:moveTo>
                <a:lnTo>
                  <a:pt x="3984633" y="0"/>
                </a:lnTo>
                <a:lnTo>
                  <a:pt x="3984633" y="2656421"/>
                </a:lnTo>
                <a:lnTo>
                  <a:pt x="0" y="26564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1C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34337"/>
            <a:ext cx="7018326" cy="7018326"/>
          </a:xfrm>
          <a:custGeom>
            <a:avLst/>
            <a:gdLst/>
            <a:ahLst/>
            <a:cxnLst/>
            <a:rect r="r" b="b" t="t" l="l"/>
            <a:pathLst>
              <a:path h="7018326" w="7018326">
                <a:moveTo>
                  <a:pt x="0" y="0"/>
                </a:moveTo>
                <a:lnTo>
                  <a:pt x="7018326" y="0"/>
                </a:lnTo>
                <a:lnTo>
                  <a:pt x="7018326" y="7018326"/>
                </a:lnTo>
                <a:lnTo>
                  <a:pt x="0" y="7018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75643" y="2893486"/>
            <a:ext cx="8111519" cy="4271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20"/>
              </a:lnSpc>
            </a:pPr>
            <a:r>
              <a:rPr lang="en-US" sz="12300" b="true">
                <a:solidFill>
                  <a:srgbClr val="FF498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326569" y="0"/>
            <a:ext cx="5961431" cy="1528974"/>
          </a:xfrm>
          <a:custGeom>
            <a:avLst/>
            <a:gdLst/>
            <a:ahLst/>
            <a:cxnLst/>
            <a:rect r="r" b="b" t="t" l="l"/>
            <a:pathLst>
              <a:path h="1528974" w="5961431">
                <a:moveTo>
                  <a:pt x="0" y="0"/>
                </a:moveTo>
                <a:lnTo>
                  <a:pt x="5961431" y="0"/>
                </a:lnTo>
                <a:lnTo>
                  <a:pt x="5961431" y="1528974"/>
                </a:lnTo>
                <a:lnTo>
                  <a:pt x="0" y="1528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29" t="-37583" r="0" b="-258667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DAHSDkXwoMw</dc:identifier>
  <dcterms:modified xsi:type="dcterms:W3CDTF">2011-08-01T06:04:30Z</dcterms:modified>
  <cp:revision>1</cp:revision>
  <dc:title>Zepto Inventory Analysis</dc:title>
</cp:coreProperties>
</file>